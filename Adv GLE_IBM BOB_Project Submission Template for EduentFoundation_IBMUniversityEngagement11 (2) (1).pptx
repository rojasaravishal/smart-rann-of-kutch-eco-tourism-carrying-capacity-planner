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71BE40-1137-458E-82E9-4E0ABDFAC1F4}">
  <a:tblStyle styleId="{1F71BE40-1137-458E-82E9-4E0ABDFAC1F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0" name="Google Shape;11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 name="Shape 30"/>
        <p:cNvGrpSpPr/>
        <p:nvPr/>
      </p:nvGrpSpPr>
      <p:grpSpPr>
        <a:xfrm>
          <a:off x="0" y="0"/>
          <a:ext cx="0" cy="0"/>
          <a:chOff x="0" y="0"/>
          <a:chExt cx="0" cy="0"/>
        </a:xfrm>
      </p:grpSpPr>
      <p:sp>
        <p:nvSpPr>
          <p:cNvPr id="31" name="Google Shape;31;p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3" name="Google Shape;33;p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1" name="Google Shape;51;p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 name="Google Shape;5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p:nvPr>
            <p:ph idx="2" type="pic"/>
          </p:nvPr>
        </p:nvSpPr>
        <p:spPr>
          <a:xfrm>
            <a:off x="5183188" y="987425"/>
            <a:ext cx="6172200" cy="4873625"/>
          </a:xfrm>
          <a:prstGeom prst="rect">
            <a:avLst/>
          </a:prstGeom>
          <a:noFill/>
          <a:ln>
            <a:noFill/>
          </a:ln>
        </p:spPr>
      </p:sp>
      <p:sp>
        <p:nvSpPr>
          <p:cNvPr id="58" name="Google Shape;58;p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1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1" lang="en-US" sz="6600"/>
              <a:t>IBM University Engagement Project Submission</a:t>
            </a:r>
            <a:br>
              <a:rPr b="1" lang="en-US"/>
            </a:br>
            <a:endParaRPr/>
          </a:p>
        </p:txBody>
      </p:sp>
      <p:sp>
        <p:nvSpPr>
          <p:cNvPr id="79" name="Google Shape;79;p12"/>
          <p:cNvSpPr txBox="1"/>
          <p:nvPr>
            <p:ph idx="1" type="body"/>
          </p:nvPr>
        </p:nvSpPr>
        <p:spPr>
          <a:xfrm>
            <a:off x="1014730" y="3903663"/>
            <a:ext cx="10515600" cy="1500187"/>
          </a:xfrm>
          <a:prstGeom prst="rect">
            <a:avLst/>
          </a:prstGeom>
          <a:noFill/>
          <a:ln>
            <a:noFill/>
          </a:ln>
        </p:spPr>
        <p:txBody>
          <a:bodyPr anchorCtr="0" anchor="t" bIns="45700" lIns="91425" spcFirstLastPara="1" rIns="91425" wrap="square" tIns="45700">
            <a:normAutofit/>
          </a:bodyPr>
          <a:lstStyle/>
          <a:p>
            <a:pPr indent="-228600" lvl="0" marL="457200" rtl="0" algn="ctr">
              <a:lnSpc>
                <a:spcPct val="90000"/>
              </a:lnSpc>
              <a:spcBef>
                <a:spcPts val="1000"/>
              </a:spcBef>
              <a:spcAft>
                <a:spcPts val="0"/>
              </a:spcAft>
              <a:buSzPts val="2400"/>
              <a:buNone/>
            </a:pPr>
            <a:r>
              <a:rPr b="1" i="1" lang="en-US"/>
              <a:t>“Exploring the Power of Agentic AI with IBM Granite and IBM Bob”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690624" y="4425370"/>
            <a:ext cx="10795794" cy="1992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chemeClr val="dk1"/>
              </a:buClr>
              <a:buSzPts val="1500"/>
              <a:buFont typeface="Calibri"/>
              <a:buNone/>
            </a:pPr>
            <a:r>
              <a:t/>
            </a:r>
            <a:endParaRPr b="0" i="0" sz="1500" u="none" cap="none" strike="noStrike">
              <a:solidFill>
                <a:schemeClr val="dk1"/>
              </a:solidFill>
              <a:latin typeface="Times New Roman"/>
              <a:ea typeface="Times New Roman"/>
              <a:cs typeface="Times New Roman"/>
              <a:sym typeface="Times New Roman"/>
            </a:endParaRPr>
          </a:p>
        </p:txBody>
      </p:sp>
      <p:sp>
        <p:nvSpPr>
          <p:cNvPr id="85" name="Google Shape;85;p13"/>
          <p:cNvSpPr txBox="1"/>
          <p:nvPr/>
        </p:nvSpPr>
        <p:spPr>
          <a:xfrm>
            <a:off x="1102321" y="1174639"/>
            <a:ext cx="7426406" cy="451519"/>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2060"/>
              </a:buClr>
              <a:buSzPts val="3200"/>
              <a:buFont typeface="Times New Roman"/>
              <a:buNone/>
            </a:pPr>
            <a:r>
              <a:t/>
            </a:r>
            <a:endParaRPr b="1" i="0" sz="3200" u="none" cap="none" strike="noStrike">
              <a:solidFill>
                <a:srgbClr val="002060"/>
              </a:solidFill>
              <a:latin typeface="Times New Roman"/>
              <a:ea typeface="Times New Roman"/>
              <a:cs typeface="Times New Roman"/>
              <a:sym typeface="Times New Roman"/>
            </a:endParaRPr>
          </a:p>
        </p:txBody>
      </p:sp>
      <p:graphicFrame>
        <p:nvGraphicFramePr>
          <p:cNvPr id="86" name="Google Shape;86;p13"/>
          <p:cNvGraphicFramePr/>
          <p:nvPr/>
        </p:nvGraphicFramePr>
        <p:xfrm>
          <a:off x="1299257" y="2600315"/>
          <a:ext cx="3000000" cy="3000000"/>
        </p:xfrm>
        <a:graphic>
          <a:graphicData uri="http://schemas.openxmlformats.org/drawingml/2006/table">
            <a:tbl>
              <a:tblPr>
                <a:noFill/>
                <a:tableStyleId>{1F71BE40-1137-458E-82E9-4E0ABDFAC1F4}</a:tableStyleId>
              </a:tblPr>
              <a:tblGrid>
                <a:gridCol w="2064875"/>
                <a:gridCol w="2443375"/>
                <a:gridCol w="2443375"/>
                <a:gridCol w="2443375"/>
              </a:tblGrid>
              <a:tr h="9732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Student Name</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Recent Passport Photo</a:t>
                      </a:r>
                      <a:endParaRPr sz="1800" u="none" cap="none" strike="noStrike"/>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Email ID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c>
                  <a:txBody>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Mobile number</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rgbClr val="000000"/>
                          </a:solidFill>
                          <a:latin typeface="Arial"/>
                          <a:ea typeface="Arial"/>
                          <a:cs typeface="Arial"/>
                          <a:sym typeface="Arial"/>
                        </a:rPr>
                        <a:t>[WhatsApp] </a:t>
                      </a:r>
                      <a:endParaRPr b="0" i="0" sz="1800" u="none" cap="none" strike="noStrike">
                        <a:solidFill>
                          <a:srgbClr val="000000"/>
                        </a:solidFill>
                        <a:latin typeface="Arial"/>
                        <a:ea typeface="Arial"/>
                        <a:cs typeface="Arial"/>
                        <a:sym typeface="Arial"/>
                      </a:endParaRPr>
                    </a:p>
                  </a:txBody>
                  <a:tcPr marT="45725" marB="45725" marR="91450" marL="9145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5B9BD5"/>
                    </a:solidFill>
                  </a:tcPr>
                </a:tc>
              </a:tr>
              <a:tr h="1193900">
                <a:tc>
                  <a:txBody>
                    <a:bodyPr/>
                    <a:lstStyle/>
                    <a:p>
                      <a:pPr indent="0" lvl="0" marL="0" marR="0" rtl="0" algn="l">
                        <a:lnSpc>
                          <a:spcPct val="100000"/>
                        </a:lnSpc>
                        <a:spcBef>
                          <a:spcPts val="0"/>
                        </a:spcBef>
                        <a:spcAft>
                          <a:spcPts val="0"/>
                        </a:spcAft>
                        <a:buClr>
                          <a:srgbClr val="000000"/>
                        </a:buClr>
                        <a:buSzPts val="1400"/>
                        <a:buFont typeface="Arial"/>
                        <a:buNone/>
                      </a:pPr>
                      <a:r>
                        <a:rPr lang="en-US"/>
                        <a:t>Vishal D. Rojasara</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vishalrojasara5261</a:t>
                      </a:r>
                      <a:r>
                        <a:rPr lang="en-US" sz="1400" u="none" cap="none" strike="noStrike"/>
                        <a:t>@gmail.com</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a:t>7778915261</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D0DEEF"/>
                    </a:solidFill>
                  </a:tcPr>
                </a:tc>
              </a:tr>
            </a:tbl>
          </a:graphicData>
        </a:graphic>
      </p:graphicFrame>
      <p:sp>
        <p:nvSpPr>
          <p:cNvPr id="87" name="Google Shape;87;p13"/>
          <p:cNvSpPr txBox="1"/>
          <p:nvPr/>
        </p:nvSpPr>
        <p:spPr>
          <a:xfrm>
            <a:off x="1206164" y="1460724"/>
            <a:ext cx="1028025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Domain of  Project –  Economic Development </a:t>
            </a:r>
            <a:endParaRPr b="1" i="0" sz="2400" u="none" cap="none" strike="noStrike">
              <a:solidFill>
                <a:srgbClr val="000000"/>
              </a:solidFill>
              <a:highlight>
                <a:srgbClr val="FFFF00"/>
              </a:highlight>
              <a:latin typeface="Arial"/>
              <a:ea typeface="Arial"/>
              <a:cs typeface="Arial"/>
              <a:sym typeface="Arial"/>
            </a:endParaRPr>
          </a:p>
        </p:txBody>
      </p:sp>
      <p:sp>
        <p:nvSpPr>
          <p:cNvPr id="88" name="Google Shape;88;p13"/>
          <p:cNvSpPr txBox="1"/>
          <p:nvPr/>
        </p:nvSpPr>
        <p:spPr>
          <a:xfrm>
            <a:off x="1206162" y="551965"/>
            <a:ext cx="9581177"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Project Tile – AI-Powered Cotton &amp; Groundnut Market Linkage Platform</a:t>
            </a:r>
            <a:endParaRPr b="1" i="0" sz="2400" u="none" cap="none" strike="noStrike">
              <a:solidFill>
                <a:srgbClr val="000000"/>
              </a:solidFill>
              <a:highlight>
                <a:srgbClr val="FFFF00"/>
              </a:highlight>
              <a:latin typeface="Arial"/>
              <a:ea typeface="Arial"/>
              <a:cs typeface="Arial"/>
              <a:sym typeface="Arial"/>
            </a:endParaRPr>
          </a:p>
        </p:txBody>
      </p:sp>
      <p:pic>
        <p:nvPicPr>
          <p:cNvPr id="89" name="Google Shape;89;p13" title="PASS.jpg"/>
          <p:cNvPicPr preferRelativeResize="0"/>
          <p:nvPr/>
        </p:nvPicPr>
        <p:blipFill rotWithShape="1">
          <a:blip r:embed="rId3">
            <a:alphaModFix/>
          </a:blip>
          <a:srcRect b="3858" l="0" r="0" t="3849"/>
          <a:stretch/>
        </p:blipFill>
        <p:spPr>
          <a:xfrm>
            <a:off x="4154066" y="3683879"/>
            <a:ext cx="832801" cy="98213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nvSpPr>
        <p:spPr>
          <a:xfrm>
            <a:off x="576072" y="1234440"/>
            <a:ext cx="10607100" cy="4402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Problem Statement : </a:t>
            </a:r>
            <a:r>
              <a:rPr b="1" lang="en-US"/>
              <a:t>Smart Rann of Kutch Eco-Tourism &amp; Carrying Capacity Planner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Domain: </a:t>
            </a:r>
            <a:r>
              <a:rPr lang="en-US"/>
              <a:t>Tourism </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Challenge </a:t>
            </a:r>
            <a:endParaRPr/>
          </a:p>
          <a:p>
            <a:pPr indent="0" lvl="0" marL="0" marR="0" rtl="0" algn="l">
              <a:lnSpc>
                <a:spcPct val="100000"/>
              </a:lnSpc>
              <a:spcBef>
                <a:spcPts val="0"/>
              </a:spcBef>
              <a:spcAft>
                <a:spcPts val="0"/>
              </a:spcAft>
              <a:buNone/>
            </a:pPr>
            <a:r>
              <a:rPr lang="en-US"/>
              <a:t>The Rann Utsav and Kutch region attract heavy seasonal tourist inflow, straining fragile desert ecology, local water resources, and infrastructure, while visitors lack guidance on sustainable and lesser-known eco-tourism alternatives. </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Objective </a:t>
            </a:r>
            <a:endParaRPr/>
          </a:p>
          <a:p>
            <a:pPr indent="0" lvl="0" marL="0" marR="0" rtl="0" algn="l">
              <a:lnSpc>
                <a:spcPct val="100000"/>
              </a:lnSpc>
              <a:spcBef>
                <a:spcPts val="0"/>
              </a:spcBef>
              <a:spcAft>
                <a:spcPts val="0"/>
              </a:spcAft>
              <a:buNone/>
            </a:pPr>
            <a:r>
              <a:rPr lang="en-US"/>
              <a:t>Build Agentic AI solutions that manage tourist load, recommend sustainable travel itineraries, andprotect ecolog ically sensitive zones in Kutch and surrounding regions. </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Suggested AI Agents</a:t>
            </a:r>
            <a:endParaRPr/>
          </a:p>
          <a:p>
            <a:pPr indent="0" lvl="0" marL="0" marR="0" rtl="0" algn="l">
              <a:lnSpc>
                <a:spcPct val="100000"/>
              </a:lnSpc>
              <a:spcBef>
                <a:spcPts val="0"/>
              </a:spcBef>
              <a:spcAft>
                <a:spcPts val="0"/>
              </a:spcAft>
              <a:buNone/>
            </a:pPr>
            <a:r>
              <a:rPr b="1" lang="en-US"/>
              <a:t>•</a:t>
            </a:r>
            <a:r>
              <a:rPr lang="en-US"/>
              <a:t> Tourist Load Forecasting Agent </a:t>
            </a:r>
            <a:endParaRPr/>
          </a:p>
          <a:p>
            <a:pPr indent="0" lvl="0" marL="0" marR="0" rtl="0" algn="l">
              <a:lnSpc>
                <a:spcPct val="100000"/>
              </a:lnSpc>
              <a:spcBef>
                <a:spcPts val="0"/>
              </a:spcBef>
              <a:spcAft>
                <a:spcPts val="0"/>
              </a:spcAft>
              <a:buNone/>
            </a:pPr>
            <a:r>
              <a:rPr lang="en-US"/>
              <a:t>• Sustainable Itinerary Recommendation Agent </a:t>
            </a:r>
            <a:endParaRPr/>
          </a:p>
          <a:p>
            <a:pPr indent="0" lvl="0" marL="0" marR="0" rtl="0" algn="l">
              <a:lnSpc>
                <a:spcPct val="100000"/>
              </a:lnSpc>
              <a:spcBef>
                <a:spcPts val="0"/>
              </a:spcBef>
              <a:spcAft>
                <a:spcPts val="0"/>
              </a:spcAft>
              <a:buNone/>
            </a:pPr>
            <a:r>
              <a:rPr lang="en-US"/>
              <a:t>• Ecological Carrying Capacity Agent </a:t>
            </a:r>
            <a:endParaRPr/>
          </a:p>
          <a:p>
            <a:pPr indent="0" lvl="0" marL="0" marR="0" rtl="0" algn="l">
              <a:lnSpc>
                <a:spcPct val="100000"/>
              </a:lnSpc>
              <a:spcBef>
                <a:spcPts val="0"/>
              </a:spcBef>
              <a:spcAft>
                <a:spcPts val="0"/>
              </a:spcAft>
              <a:buNone/>
            </a:pPr>
            <a:r>
              <a:rPr lang="en-US"/>
              <a:t>• Local Artisan &amp; Community Linkage Agent </a:t>
            </a:r>
            <a:endParaRPr/>
          </a:p>
          <a:p>
            <a:pPr indent="0" lvl="0" marL="0" marR="0" rtl="0" algn="l">
              <a:lnSpc>
                <a:spcPct val="100000"/>
              </a:lnSpc>
              <a:spcBef>
                <a:spcPts val="0"/>
              </a:spcBef>
              <a:spcAft>
                <a:spcPts val="0"/>
              </a:spcAft>
              <a:buNone/>
            </a:pPr>
            <a:r>
              <a:rPr lang="en-US"/>
              <a:t>• Tourism Impact Dashboard Agent </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Technology to be used – </a:t>
            </a:r>
            <a:r>
              <a:rPr b="0" i="0" lang="en-US" sz="1400" u="none" cap="none" strike="noStrike">
                <a:solidFill>
                  <a:srgbClr val="000000"/>
                </a:solidFill>
                <a:latin typeface="Arial"/>
                <a:ea typeface="Arial"/>
                <a:cs typeface="Arial"/>
                <a:sym typeface="Arial"/>
              </a:rPr>
              <a:t>IBM Bob + IBM Granite LLM + IBM cloud</a:t>
            </a:r>
            <a:endParaRPr b="0" i="0" sz="1400" u="none" cap="none" strike="noStrike">
              <a:solidFill>
                <a:srgbClr val="000000"/>
              </a:solidFill>
              <a:latin typeface="Arial"/>
              <a:ea typeface="Arial"/>
              <a:cs typeface="Arial"/>
              <a:sym typeface="Arial"/>
            </a:endParaRPr>
          </a:p>
        </p:txBody>
      </p:sp>
      <p:sp>
        <p:nvSpPr>
          <p:cNvPr id="95" name="Google Shape;95;p14"/>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Problem Statement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nvSpPr>
        <p:spPr>
          <a:xfrm>
            <a:off x="576072" y="1234440"/>
            <a:ext cx="10607100" cy="635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rtl="0" algn="l">
              <a:lnSpc>
                <a:spcPct val="115000"/>
              </a:lnSpc>
              <a:spcBef>
                <a:spcPts val="1400"/>
              </a:spcBef>
              <a:spcAft>
                <a:spcPts val="0"/>
              </a:spcAft>
              <a:buNone/>
            </a:pPr>
            <a:r>
              <a:rPr b="1" lang="en-US">
                <a:solidFill>
                  <a:schemeClr val="dk1"/>
                </a:solidFill>
              </a:rPr>
              <a:t>Proposed Solution: AI-Powered Smart Rann of Kutch Eco-Tourism &amp; Carrying Capacity Platform</a:t>
            </a:r>
            <a:endParaRPr b="1">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US" sz="1200">
                <a:solidFill>
                  <a:schemeClr val="dk1"/>
                </a:solidFill>
              </a:rPr>
              <a:t>Agentic AI platform</a:t>
            </a:r>
            <a:r>
              <a:rPr lang="en-US" sz="1200">
                <a:solidFill>
                  <a:schemeClr val="dk1"/>
                </a:solidFill>
              </a:rPr>
              <a:t> that intelligently manages tourist inflow in the Rann of Kutch while protecting fragile desert ecosystems and supporting local communities.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5 specialized AI agents</a:t>
            </a:r>
            <a:r>
              <a:rPr lang="en-US" sz="1200">
                <a:solidFill>
                  <a:schemeClr val="dk1"/>
                </a:solidFill>
              </a:rPr>
              <a:t> — Tourist Load Forecasting, Sustainable Itinerary Planning, Ecological Carrying Capacity, Community &amp; Artisan Matching, and Tourism Impact Dashboard — coordinated by a central </a:t>
            </a:r>
            <a:r>
              <a:rPr b="1" lang="en-US" sz="1200">
                <a:solidFill>
                  <a:schemeClr val="dk1"/>
                </a:solidFill>
              </a:rPr>
              <a:t>AI Orchestrator</a:t>
            </a:r>
            <a:r>
              <a:rPr lang="en-US" sz="1200">
                <a:solidFill>
                  <a:schemeClr val="dk1"/>
                </a:solidFill>
              </a:rPr>
              <a: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Tourists and authorities can interact in plain Gujarati/Hindi/English</a:t>
            </a:r>
            <a:r>
              <a:rPr lang="en-US" sz="1200">
                <a:solidFill>
                  <a:schemeClr val="dk1"/>
                </a:solidFill>
              </a:rPr>
              <a:t> through a simple AI chat interface and receive direct answers such as:</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“Is the Rann crowded today?”</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“Suggest a less crowded alternative.”</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“Plan a 3-day sustainable Kutch trip.”</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“Can I visit this destination safely?”</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“Which local artisan experiences should I visit?”</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“What is the tourism pressure in Kutch?”</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IBM Granite LLM</a:t>
            </a:r>
            <a:r>
              <a:rPr lang="en-US" sz="1200">
                <a:solidFill>
                  <a:schemeClr val="dk1"/>
                </a:solidFill>
              </a:rPr>
              <a:t> acts as the conversational intelligence layer, while </a:t>
            </a:r>
            <a:r>
              <a:rPr b="1" lang="en-US" sz="1200">
                <a:solidFill>
                  <a:schemeClr val="dk1"/>
                </a:solidFill>
              </a:rPr>
              <a:t>IBM Cloud/watsonx</a:t>
            </a:r>
            <a:r>
              <a:rPr lang="en-US" sz="1200">
                <a:solidFill>
                  <a:schemeClr val="dk1"/>
                </a:solidFill>
              </a:rPr>
              <a:t> can be used for AI deployment and orchestration.</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The platform combines </a:t>
            </a:r>
            <a:r>
              <a:rPr b="1" lang="en-US" sz="1200">
                <a:solidFill>
                  <a:schemeClr val="dk1"/>
                </a:solidFill>
              </a:rPr>
              <a:t>tourist-load data, destination information, carrying-capacity metrics, community/artisan data, weather or external data where connected, and ML predictions</a:t>
            </a:r>
            <a:r>
              <a:rPr lang="en-US" sz="1200">
                <a:solidFill>
                  <a:schemeClr val="dk1"/>
                </a:solidFill>
              </a:rPr>
              <a:t> to generate responsible recommendations.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The system </a:t>
            </a:r>
            <a:r>
              <a:rPr b="1" lang="en-US" sz="1200">
                <a:solidFill>
                  <a:schemeClr val="dk1"/>
                </a:solidFill>
              </a:rPr>
              <a:t>clearly distinguishes verified information, demo data, ML predictions, and AI-generated recommendations</a:t>
            </a:r>
            <a:r>
              <a:rPr lang="en-US" sz="1200">
                <a:solidFill>
                  <a:schemeClr val="dk1"/>
                </a:solidFill>
              </a:rPr>
              <a:t>, reducing the risk of presenting estimates as facts.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Predictive intelligence</a:t>
            </a:r>
            <a:r>
              <a:rPr lang="en-US" sz="1200">
                <a:solidFill>
                  <a:schemeClr val="dk1"/>
                </a:solidFill>
              </a:rPr>
              <a:t> forecasts tourist pressure and identifies destinations that may become overcrowded, allowing the system to redirect visitors toward safer and lesser-known alternatives.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Sustainability-aware recommendations</a:t>
            </a:r>
            <a:r>
              <a:rPr lang="en-US" sz="1200">
                <a:solidFill>
                  <a:schemeClr val="dk1"/>
                </a:solidFill>
              </a:rPr>
              <a:t> balance tourist demand with ecological carrying capacity, helping prevent excessive pressure on fragile desert regions.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Community linkage</a:t>
            </a:r>
            <a:r>
              <a:rPr lang="en-US" sz="1200">
                <a:solidFill>
                  <a:schemeClr val="dk1"/>
                </a:solidFill>
              </a:rPr>
              <a:t> connects tourists with local artisans, handicrafts, cultural experiences, and community-based tourism opportunities, helping distribute tourism revenue to local communities.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A </a:t>
            </a:r>
            <a:r>
              <a:rPr b="1" lang="en-US" sz="1200">
                <a:solidFill>
                  <a:schemeClr val="dk1"/>
                </a:solidFill>
              </a:rPr>
              <a:t>simple ChatGPT-style multilingual interface</a:t>
            </a:r>
            <a:r>
              <a:rPr lang="en-US" sz="1200">
                <a:solidFill>
                  <a:schemeClr val="dk1"/>
                </a:solidFill>
              </a:rPr>
              <a:t> makes the platform accessible to tourists using basic smartphones without requiring technical knowledge.</a:t>
            </a:r>
            <a:endParaRPr sz="1200">
              <a:solidFill>
                <a:schemeClr val="dk1"/>
              </a:solidFill>
            </a:endParaRPr>
          </a:p>
          <a:p>
            <a:pPr indent="0" lvl="0" marL="457200" marR="0" rtl="0" algn="just">
              <a:lnSpc>
                <a:spcPct val="100000"/>
              </a:lnSpc>
              <a:spcBef>
                <a:spcPts val="120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 name="Google Shape;101;p15"/>
          <p:cNvSpPr txBox="1"/>
          <p:nvPr/>
        </p:nvSpPr>
        <p:spPr>
          <a:xfrm>
            <a:off x="576072" y="704088"/>
            <a:ext cx="72146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Proposed Solution -</a:t>
            </a:r>
            <a:endParaRPr b="1"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nvSpPr>
        <p:spPr>
          <a:xfrm>
            <a:off x="777240" y="484632"/>
            <a:ext cx="7123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Technology Used</a:t>
            </a:r>
            <a:endParaRPr b="1" i="0" sz="2400" u="none" cap="none" strike="noStrike">
              <a:solidFill>
                <a:srgbClr val="000000"/>
              </a:solidFill>
              <a:latin typeface="Arial"/>
              <a:ea typeface="Arial"/>
              <a:cs typeface="Arial"/>
              <a:sym typeface="Arial"/>
            </a:endParaRPr>
          </a:p>
        </p:txBody>
      </p:sp>
      <p:sp>
        <p:nvSpPr>
          <p:cNvPr id="107" name="Google Shape;107;p16"/>
          <p:cNvSpPr txBox="1"/>
          <p:nvPr/>
        </p:nvSpPr>
        <p:spPr>
          <a:xfrm>
            <a:off x="777240" y="1207008"/>
            <a:ext cx="10515600" cy="55092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Bob platform </a:t>
            </a:r>
            <a:r>
              <a:rPr b="0" i="0" lang="en-US" sz="1800" u="none" cap="none" strike="noStrike">
                <a:solidFill>
                  <a:srgbClr val="000000"/>
                </a:solidFill>
                <a:latin typeface="Arial"/>
                <a:ea typeface="Arial"/>
                <a:cs typeface="Arial"/>
                <a:sym typeface="Arial"/>
              </a:rPr>
              <a:t>-For designing and orchestrating multi-agent workflows visually</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Grainte model </a:t>
            </a:r>
            <a:r>
              <a:rPr b="0" i="0" lang="en-US" sz="1800" u="none" cap="none" strike="noStrike">
                <a:solidFill>
                  <a:srgbClr val="000000"/>
                </a:solidFill>
                <a:latin typeface="Arial"/>
                <a:ea typeface="Arial"/>
                <a:cs typeface="Arial"/>
                <a:sym typeface="Arial"/>
              </a:rPr>
              <a:t>-  for eg – ibm-granite-3-2-8b – For natural language understanding, reasoning, and personalization</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Cloud </a:t>
            </a:r>
            <a:r>
              <a:rPr b="0" i="0" lang="en-US" sz="1800" u="none" cap="none" strike="noStrike">
                <a:solidFill>
                  <a:srgbClr val="000000"/>
                </a:solidFill>
                <a:latin typeface="Arial"/>
                <a:ea typeface="Arial"/>
                <a:cs typeface="Arial"/>
                <a:sym typeface="Arial"/>
              </a:rPr>
              <a:t>– It provides the infrastructure to build, deploy, and scale the Nutrition Agent efficiently. IBM Cloud enables a </a:t>
            </a:r>
            <a:r>
              <a:rPr b="1" i="0" lang="en-US" sz="1800" u="none" cap="none" strike="noStrike">
                <a:solidFill>
                  <a:srgbClr val="000000"/>
                </a:solidFill>
                <a:latin typeface="Arial"/>
                <a:ea typeface="Arial"/>
                <a:cs typeface="Arial"/>
                <a:sym typeface="Arial"/>
              </a:rPr>
              <a:t>reliable, secure, and scalable environment</a:t>
            </a:r>
            <a:r>
              <a:rPr b="0" i="0" lang="en-US" sz="1800" u="none" cap="none" strike="noStrike">
                <a:solidFill>
                  <a:srgbClr val="000000"/>
                </a:solidFill>
                <a:latin typeface="Arial"/>
                <a:ea typeface="Arial"/>
                <a:cs typeface="Arial"/>
                <a:sym typeface="Arial"/>
              </a:rPr>
              <a:t> for deploying the Nutrition Agent.</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RAG– </a:t>
            </a:r>
            <a:r>
              <a:rPr b="0" i="0" lang="en-US" sz="1800" u="none" cap="none" strike="noStrike">
                <a:solidFill>
                  <a:srgbClr val="000000"/>
                </a:solidFill>
                <a:latin typeface="Arial"/>
                <a:ea typeface="Arial"/>
                <a:cs typeface="Arial"/>
                <a:sym typeface="Arial"/>
              </a:rPr>
              <a:t>RAG to </a:t>
            </a:r>
            <a:r>
              <a:rPr b="1" i="0" lang="en-US" sz="1800" u="none" cap="none" strike="noStrike">
                <a:solidFill>
                  <a:srgbClr val="000000"/>
                </a:solidFill>
                <a:latin typeface="Arial"/>
                <a:ea typeface="Arial"/>
                <a:cs typeface="Arial"/>
                <a:sym typeface="Arial"/>
              </a:rPr>
              <a:t>fetch real data first, then generate intelligent answers</a:t>
            </a:r>
            <a:r>
              <a:rPr b="0" i="0" lang="en-US" sz="1800" u="none" cap="none" strike="noStrike">
                <a:solidFill>
                  <a:srgbClr val="000000"/>
                </a:solidFill>
                <a:latin typeface="Arial"/>
                <a:ea typeface="Arial"/>
                <a:cs typeface="Arial"/>
                <a:sym typeface="Arial"/>
              </a:rPr>
              <a:t>, making the Nutrition Agent more trustworthy and effective.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IBM Watsonx.ai - </a:t>
            </a:r>
            <a:r>
              <a:rPr b="0" i="0" lang="en-US" sz="1800" u="none" cap="none" strike="noStrike">
                <a:solidFill>
                  <a:srgbClr val="000000"/>
                </a:solidFill>
                <a:latin typeface="Arial"/>
                <a:ea typeface="Arial"/>
                <a:cs typeface="Arial"/>
                <a:sym typeface="Arial"/>
              </a:rPr>
              <a:t>For model deployment, embeddings, and AI governance</a:t>
            </a:r>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Arial"/>
                <a:ea typeface="Arial"/>
                <a:cs typeface="Arial"/>
                <a:sym typeface="Arial"/>
              </a:rPr>
              <a:t>Vector Database </a:t>
            </a:r>
            <a:r>
              <a:rPr b="0" i="0" lang="en-US" sz="1800" u="none" cap="none" strike="noStrike">
                <a:solidFill>
                  <a:srgbClr val="000000"/>
                </a:solidFill>
                <a:latin typeface="Arial"/>
                <a:ea typeface="Arial"/>
                <a:cs typeface="Arial"/>
                <a:sym typeface="Arial"/>
              </a:rPr>
              <a:t>(FAISS/Chroma) – For RAG-based nutritional data retrieval</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Required Files created using IBM bob -</a:t>
            </a:r>
            <a:endParaRPr b="1" i="0" sz="2400" u="none" cap="none" strike="noStrike">
              <a:solidFill>
                <a:srgbClr val="000000"/>
              </a:solidFill>
              <a:latin typeface="Arial"/>
              <a:ea typeface="Arial"/>
              <a:cs typeface="Arial"/>
              <a:sym typeface="Arial"/>
            </a:endParaRPr>
          </a:p>
        </p:txBody>
      </p:sp>
      <p:sp>
        <p:nvSpPr>
          <p:cNvPr id="113" name="Google Shape;113;p17"/>
          <p:cNvSpPr/>
          <p:nvPr/>
        </p:nvSpPr>
        <p:spPr>
          <a:xfrm>
            <a:off x="2264331" y="6784578"/>
            <a:ext cx="2140744"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4" name="Google Shape;114;p17"/>
          <p:cNvSpPr/>
          <p:nvPr/>
        </p:nvSpPr>
        <p:spPr>
          <a:xfrm>
            <a:off x="1782604"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5" name="Google Shape;115;p17"/>
          <p:cNvSpPr/>
          <p:nvPr/>
        </p:nvSpPr>
        <p:spPr>
          <a:xfrm>
            <a:off x="5732383"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6" name="Google Shape;116;p17"/>
          <p:cNvSpPr/>
          <p:nvPr/>
        </p:nvSpPr>
        <p:spPr>
          <a:xfrm>
            <a:off x="5077301"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7" name="Google Shape;117;p17"/>
          <p:cNvSpPr/>
          <p:nvPr/>
        </p:nvSpPr>
        <p:spPr>
          <a:xfrm>
            <a:off x="9027081" y="6784578"/>
            <a:ext cx="1793915" cy="224195"/>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8" name="Google Shape;118;p17"/>
          <p:cNvSpPr/>
          <p:nvPr/>
        </p:nvSpPr>
        <p:spPr>
          <a:xfrm>
            <a:off x="8371999" y="7100213"/>
            <a:ext cx="3104198" cy="731877"/>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19" name="Google Shape;119;p17"/>
          <p:cNvSpPr txBox="1"/>
          <p:nvPr/>
        </p:nvSpPr>
        <p:spPr>
          <a:xfrm>
            <a:off x="474822" y="863187"/>
            <a:ext cx="8823960" cy="4739759"/>
          </a:xfrm>
          <a:prstGeom prst="rect">
            <a:avLst/>
          </a:prstGeom>
          <a:noFill/>
          <a:ln>
            <a:noFill/>
          </a:ln>
        </p:spPr>
        <p:txBody>
          <a:bodyPr anchorCtr="0" anchor="t" bIns="45700" lIns="91425" spcFirstLastPara="1" rIns="91425" wrap="square" tIns="45700">
            <a:spAutoFit/>
          </a:bodyPr>
          <a:lstStyle/>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App.py</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Requirements.txt</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Style.css </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.env</a:t>
            </a:r>
            <a:endParaRPr/>
          </a:p>
          <a:p>
            <a:pPr indent="-2286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Arial"/>
                <a:ea typeface="Arial"/>
                <a:cs typeface="Arial"/>
                <a:sym typeface="Arial"/>
              </a:rPr>
              <a:t>Index.html</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120" name="Google Shape;120;p17" title="Screenshot 2026-08-12 200713.png"/>
          <p:cNvPicPr preferRelativeResize="0"/>
          <p:nvPr/>
        </p:nvPicPr>
        <p:blipFill rotWithShape="1">
          <a:blip r:embed="rId3">
            <a:alphaModFix/>
          </a:blip>
          <a:srcRect b="0" l="-4393" r="22587" t="0"/>
          <a:stretch/>
        </p:blipFill>
        <p:spPr>
          <a:xfrm>
            <a:off x="3164800" y="931825"/>
            <a:ext cx="8552376" cy="56029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8"/>
          <p:cNvSpPr/>
          <p:nvPr/>
        </p:nvSpPr>
        <p:spPr>
          <a:xfrm>
            <a:off x="537590" y="323239"/>
            <a:ext cx="5908929" cy="4485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51D3A"/>
              </a:buClr>
              <a:buSzPts val="3500"/>
              <a:buFont typeface="Times New Roman"/>
              <a:buNone/>
            </a:pPr>
            <a:r>
              <a:rPr b="1" i="0" lang="en-US" sz="3500" u="none" cap="none" strike="noStrike">
                <a:solidFill>
                  <a:srgbClr val="051D3A"/>
                </a:solidFill>
                <a:latin typeface="Times New Roman"/>
                <a:ea typeface="Times New Roman"/>
                <a:cs typeface="Times New Roman"/>
                <a:sym typeface="Times New Roman"/>
              </a:rPr>
              <a:t> </a:t>
            </a:r>
            <a:r>
              <a:rPr b="1" i="0" lang="en-US" sz="2400" u="none" cap="none" strike="noStrike">
                <a:solidFill>
                  <a:srgbClr val="051D3A"/>
                </a:solidFill>
                <a:latin typeface="Times New Roman"/>
                <a:ea typeface="Times New Roman"/>
                <a:cs typeface="Times New Roman"/>
                <a:sym typeface="Times New Roman"/>
              </a:rPr>
              <a:t>IBM Bob Screenshots:</a:t>
            </a:r>
            <a:endParaRPr b="1" i="0" sz="2400" u="none" cap="none" strike="noStrike">
              <a:solidFill>
                <a:srgbClr val="000000"/>
              </a:solidFill>
              <a:latin typeface="Arial"/>
              <a:ea typeface="Arial"/>
              <a:cs typeface="Arial"/>
              <a:sym typeface="Arial"/>
            </a:endParaRPr>
          </a:p>
        </p:txBody>
      </p:sp>
      <p:pic>
        <p:nvPicPr>
          <p:cNvPr id="126" name="Google Shape;126;p18" title="Screenshot 2026-08-12 200728.png"/>
          <p:cNvPicPr preferRelativeResize="0"/>
          <p:nvPr/>
        </p:nvPicPr>
        <p:blipFill rotWithShape="1">
          <a:blip r:embed="rId3">
            <a:alphaModFix/>
          </a:blip>
          <a:srcRect b="7287" l="0" r="0" t="7279"/>
          <a:stretch/>
        </p:blipFill>
        <p:spPr>
          <a:xfrm>
            <a:off x="442233" y="978067"/>
            <a:ext cx="11562696" cy="555669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19"/>
          <p:cNvPicPr preferRelativeResize="0"/>
          <p:nvPr/>
        </p:nvPicPr>
        <p:blipFill rotWithShape="1">
          <a:blip r:embed="rId3">
            <a:alphaModFix/>
          </a:blip>
          <a:srcRect b="0" l="0" r="0" t="0"/>
          <a:stretch/>
        </p:blipFill>
        <p:spPr>
          <a:xfrm>
            <a:off x="8371985" y="1167493"/>
            <a:ext cx="3015343" cy="4523014"/>
          </a:xfrm>
          <a:prstGeom prst="rect">
            <a:avLst/>
          </a:prstGeom>
          <a:noFill/>
          <a:ln>
            <a:noFill/>
          </a:ln>
        </p:spPr>
      </p:pic>
      <p:sp>
        <p:nvSpPr>
          <p:cNvPr id="132" name="Google Shape;132;p19"/>
          <p:cNvSpPr txBox="1"/>
          <p:nvPr/>
        </p:nvSpPr>
        <p:spPr>
          <a:xfrm>
            <a:off x="475488" y="283464"/>
            <a:ext cx="9317736"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Arial"/>
                <a:ea typeface="Arial"/>
                <a:cs typeface="Arial"/>
                <a:sym typeface="Arial"/>
              </a:rPr>
              <a:t>Role of Agentic AI in the solution </a:t>
            </a:r>
            <a:endParaRPr b="1" i="0" sz="3200" u="none" cap="none" strike="noStrike">
              <a:solidFill>
                <a:srgbClr val="000000"/>
              </a:solidFill>
              <a:latin typeface="Arial"/>
              <a:ea typeface="Arial"/>
              <a:cs typeface="Arial"/>
              <a:sym typeface="Arial"/>
            </a:endParaRPr>
          </a:p>
        </p:txBody>
      </p:sp>
      <p:sp>
        <p:nvSpPr>
          <p:cNvPr id="133" name="Google Shape;133;p19"/>
          <p:cNvSpPr txBox="1"/>
          <p:nvPr/>
        </p:nvSpPr>
        <p:spPr>
          <a:xfrm>
            <a:off x="621792" y="1167493"/>
            <a:ext cx="7406700" cy="58074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rPr b="1" lang="en-US">
                <a:solidFill>
                  <a:schemeClr val="dk1"/>
                </a:solidFill>
              </a:rPr>
              <a:t>Role of Agentic AI-Powered Smart Rann of Kutch Eco-Tourism Platform</a:t>
            </a:r>
            <a:endParaRPr b="1">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US" sz="1200">
                <a:solidFill>
                  <a:schemeClr val="dk1"/>
                </a:solidFill>
              </a:rPr>
              <a:t>Multi-agent, not a single chatbot</a:t>
            </a:r>
            <a:r>
              <a:rPr lang="en-US" sz="1200">
                <a:solidFill>
                  <a:schemeClr val="dk1"/>
                </a:solidFill>
              </a:rPr>
              <a:t> — each specialized AI agent owns a specific tourism decision, such as tourist-load prediction, itinerary planning, ecological capacity, or community linkage.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Orchestrator agent automatically identifies tourist or authority intent</a:t>
            </a:r>
            <a:r>
              <a:rPr lang="en-US" sz="1200">
                <a:solidFill>
                  <a:schemeClr val="dk1"/>
                </a:solidFill>
              </a:rPr>
              <a:t> and routes the request to the appropriate specialist agent, eliminating manual navigation between different modules.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Tourist Load Forecasting agent</a:t>
            </a:r>
            <a:r>
              <a:rPr lang="en-US" sz="1200">
                <a:solidFill>
                  <a:schemeClr val="dk1"/>
                </a:solidFill>
              </a:rPr>
              <a:t> analyzes historical and current visitor patterns to predict crowd levels and identify destinations at risk of over-tourism.</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Sustainable Itinerary agent</a:t>
            </a:r>
            <a:r>
              <a:rPr lang="en-US" sz="1200">
                <a:solidFill>
                  <a:schemeClr val="dk1"/>
                </a:solidFill>
              </a:rPr>
              <a:t> reasons across tourist preferences, crowd levels, ecological sensitivity, available attractions, distance, and tourism capacity to generate a practical and sustainable travel plan.</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Carrying Capacity agent</a:t>
            </a:r>
            <a:r>
              <a:rPr lang="en-US" sz="1200">
                <a:solidFill>
                  <a:schemeClr val="dk1"/>
                </a:solidFill>
              </a:rPr>
              <a:t> evaluates tourism pressure against environmental and infrastructure limits and recommends whether a destination should be promoted, limited, or avoided.</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Community Linkage agent</a:t>
            </a:r>
            <a:r>
              <a:rPr lang="en-US" sz="1200">
                <a:solidFill>
                  <a:schemeClr val="dk1"/>
                </a:solidFill>
              </a:rPr>
              <a:t> proactively recommends local artisans, handicraft experiences, homestays, cultural activities, and community-based tourism opportunities, helping distribute tourism benefits locally.</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Impact Dashboard agent</a:t>
            </a:r>
            <a:r>
              <a:rPr lang="en-US" sz="1200">
                <a:solidFill>
                  <a:schemeClr val="dk1"/>
                </a:solidFill>
              </a:rPr>
              <a:t> combines tourism, environmental, and community indicators to provide authorities with actionable insights rather than only displaying statistics.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Agents can use external tools and data sources</a:t>
            </a:r>
            <a:r>
              <a:rPr lang="en-US" sz="1200">
                <a:solidFill>
                  <a:schemeClr val="dk1"/>
                </a:solidFill>
              </a:rPr>
              <a:t> such as tourist statistics, destination databases, weather information, maps, and other connected APIs, enabling situation-aware recommendations instead of static Q&amp;A.</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The system distinguishes live/verified data from predictions and AI-generated recommendations</a:t>
            </a:r>
            <a:r>
              <a:rPr lang="en-US" sz="1200">
                <a:solidFill>
                  <a:schemeClr val="dk1"/>
                </a:solidFill>
              </a:rPr>
              <a:t>, improving transparency and reducing misleading decisions.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Net effect:</a:t>
            </a:r>
            <a:r>
              <a:rPr lang="en-US" sz="1200">
                <a:solidFill>
                  <a:schemeClr val="dk1"/>
                </a:solidFill>
              </a:rPr>
              <a:t> shifts tourism management from </a:t>
            </a:r>
            <a:r>
              <a:rPr b="1" lang="en-US" sz="1200">
                <a:solidFill>
                  <a:schemeClr val="dk1"/>
                </a:solidFill>
              </a:rPr>
              <a:t>“answering tourist questions” to “recommending the next sustainable action”</a:t>
            </a:r>
            <a:r>
              <a:rPr lang="en-US" sz="1200">
                <a:solidFill>
                  <a:schemeClr val="dk1"/>
                </a:solidFill>
              </a:rPr>
              <a:t> — where to go, when to go, where to avoid, how to distribute tourist load, and how to protect Kutch's fragile ecosystem.</a:t>
            </a:r>
            <a:endParaRPr sz="1200">
              <a:solidFill>
                <a:schemeClr val="dk1"/>
              </a:solidFill>
            </a:endParaRPr>
          </a:p>
          <a:p>
            <a:pPr indent="-285750" lvl="0" marL="285750" marR="0" rtl="0" algn="just">
              <a:lnSpc>
                <a:spcPct val="100000"/>
              </a:lnSpc>
              <a:spcBef>
                <a:spcPts val="0"/>
              </a:spcBef>
              <a:spcAft>
                <a:spcPts val="0"/>
              </a:spcAft>
              <a:buSzPts val="1400"/>
              <a:buChar char="•"/>
            </a:pPr>
            <a:r>
              <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0"/>
          <p:cNvSpPr/>
          <p:nvPr/>
        </p:nvSpPr>
        <p:spPr>
          <a:xfrm>
            <a:off x="409144" y="1129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139" name="Google Shape;139;p20"/>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0" name="Google Shape;140;p20"/>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1" name="Google Shape;141;p20"/>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42" name="Google Shape;142;p20"/>
          <p:cNvSpPr txBox="1"/>
          <p:nvPr/>
        </p:nvSpPr>
        <p:spPr>
          <a:xfrm>
            <a:off x="1335024" y="1865376"/>
            <a:ext cx="683392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Please put IBM Bob output screenshots with 2-3 prompts. </a:t>
            </a:r>
            <a:endParaRPr/>
          </a:p>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You can take 2-3 more slides for each screenshot</a:t>
            </a:r>
            <a:endParaRPr b="0" i="0" sz="2000" u="none" cap="none" strike="noStrike">
              <a:solidFill>
                <a:srgbClr val="FF0000"/>
              </a:solidFill>
              <a:latin typeface="Arial"/>
              <a:ea typeface="Arial"/>
              <a:cs typeface="Arial"/>
              <a:sym typeface="Arial"/>
            </a:endParaRPr>
          </a:p>
        </p:txBody>
      </p:sp>
      <p:pic>
        <p:nvPicPr>
          <p:cNvPr id="143" name="Google Shape;143;p20" title="Screenshot 2026-08-12 201336.png"/>
          <p:cNvPicPr preferRelativeResize="0"/>
          <p:nvPr/>
        </p:nvPicPr>
        <p:blipFill rotWithShape="1">
          <a:blip r:embed="rId3">
            <a:alphaModFix/>
          </a:blip>
          <a:srcRect b="1267" l="0" r="0" t="1257"/>
          <a:stretch/>
        </p:blipFill>
        <p:spPr>
          <a:xfrm>
            <a:off x="1033409" y="816977"/>
            <a:ext cx="9939869" cy="545014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p:nvPr/>
        </p:nvSpPr>
        <p:spPr>
          <a:xfrm>
            <a:off x="409144" y="112960"/>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None/>
            </a:pPr>
            <a:r>
              <a:rPr b="1" i="0" lang="en-US" sz="2400" u="none" cap="none" strike="noStrike">
                <a:solidFill>
                  <a:srgbClr val="000000"/>
                </a:solidFill>
                <a:latin typeface="Arial"/>
                <a:ea typeface="Arial"/>
                <a:cs typeface="Arial"/>
                <a:sym typeface="Arial"/>
              </a:rPr>
              <a:t> Project Output Screenshot</a:t>
            </a:r>
            <a:endParaRPr b="1" i="0" sz="2400" u="none" cap="none" strike="noStrike">
              <a:solidFill>
                <a:srgbClr val="000000"/>
              </a:solidFill>
              <a:latin typeface="Arial"/>
              <a:ea typeface="Arial"/>
              <a:cs typeface="Arial"/>
              <a:sym typeface="Arial"/>
            </a:endParaRPr>
          </a:p>
        </p:txBody>
      </p:sp>
      <p:sp>
        <p:nvSpPr>
          <p:cNvPr id="149" name="Google Shape;149;p21"/>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50" name="Google Shape;150;p21"/>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51" name="Google Shape;151;p21"/>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52" name="Google Shape;152;p21"/>
          <p:cNvSpPr txBox="1"/>
          <p:nvPr/>
        </p:nvSpPr>
        <p:spPr>
          <a:xfrm>
            <a:off x="1335024" y="1865376"/>
            <a:ext cx="683392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Please put IBM Bob output screenshots with 2-3 prompts. </a:t>
            </a:r>
            <a:endParaRPr/>
          </a:p>
          <a:p>
            <a:pPr indent="0" lvl="0" marL="0" marR="0" rtl="0" algn="l">
              <a:lnSpc>
                <a:spcPct val="100000"/>
              </a:lnSpc>
              <a:spcBef>
                <a:spcPts val="0"/>
              </a:spcBef>
              <a:spcAft>
                <a:spcPts val="0"/>
              </a:spcAft>
              <a:buNone/>
            </a:pPr>
            <a:r>
              <a:rPr b="0" i="0" lang="en-US" sz="2000" u="none" cap="none" strike="noStrike">
                <a:solidFill>
                  <a:srgbClr val="FF0000"/>
                </a:solidFill>
                <a:latin typeface="Arial"/>
                <a:ea typeface="Arial"/>
                <a:cs typeface="Arial"/>
                <a:sym typeface="Arial"/>
              </a:rPr>
              <a:t>You can take 2-3 more slides for each screenshot</a:t>
            </a:r>
            <a:endParaRPr b="0" i="0" sz="2000" u="none" cap="none" strike="noStrike">
              <a:solidFill>
                <a:srgbClr val="FF0000"/>
              </a:solidFill>
              <a:latin typeface="Arial"/>
              <a:ea typeface="Arial"/>
              <a:cs typeface="Arial"/>
              <a:sym typeface="Arial"/>
            </a:endParaRPr>
          </a:p>
        </p:txBody>
      </p:sp>
      <p:pic>
        <p:nvPicPr>
          <p:cNvPr id="153" name="Google Shape;153;p21"/>
          <p:cNvPicPr preferRelativeResize="0"/>
          <p:nvPr/>
        </p:nvPicPr>
        <p:blipFill rotWithShape="1">
          <a:blip r:embed="rId3">
            <a:alphaModFix/>
          </a:blip>
          <a:srcRect b="0" l="0" r="0" t="0"/>
          <a:stretch/>
        </p:blipFill>
        <p:spPr>
          <a:xfrm>
            <a:off x="561749" y="1004536"/>
            <a:ext cx="10493347" cy="5288404"/>
          </a:xfrm>
          <a:prstGeom prst="rect">
            <a:avLst/>
          </a:prstGeom>
          <a:noFill/>
          <a:ln>
            <a:noFill/>
          </a:ln>
        </p:spPr>
      </p:pic>
      <p:pic>
        <p:nvPicPr>
          <p:cNvPr id="154" name="Google Shape;154;p21" title="Screenshot 2026-08-12 201319.png"/>
          <p:cNvPicPr preferRelativeResize="0"/>
          <p:nvPr/>
        </p:nvPicPr>
        <p:blipFill rotWithShape="1">
          <a:blip r:embed="rId4">
            <a:alphaModFix/>
          </a:blip>
          <a:srcRect b="5634" l="0" r="0" t="5634"/>
          <a:stretch/>
        </p:blipFill>
        <p:spPr>
          <a:xfrm>
            <a:off x="491066" y="931332"/>
            <a:ext cx="11345333" cy="5662713"/>
          </a:xfrm>
          <a:prstGeom prst="rect">
            <a:avLst/>
          </a:prstGeom>
          <a:noFill/>
          <a:ln>
            <a:noFill/>
          </a:ln>
        </p:spPr>
      </p:pic>
      <p:sp>
        <p:nvSpPr>
          <p:cNvPr id="155" name="Google Shape;155;p21"/>
          <p:cNvSpPr/>
          <p:nvPr/>
        </p:nvSpPr>
        <p:spPr>
          <a:xfrm>
            <a:off x="5681133" y="5813737"/>
            <a:ext cx="1820334" cy="269201"/>
          </a:xfrm>
          <a:prstGeom prst="roundRect">
            <a:avLst>
              <a:gd fmla="val 16667" name="adj"/>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nvSpPr>
        <p:spPr>
          <a:xfrm>
            <a:off x="777240" y="484632"/>
            <a:ext cx="7123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Font typeface="Arial"/>
              <a:buNone/>
            </a:pPr>
            <a:r>
              <a:rPr b="1" i="0" lang="en-US" sz="2400" u="none" cap="none" strike="noStrike">
                <a:solidFill>
                  <a:srgbClr val="000000"/>
                </a:solidFill>
                <a:latin typeface="Arial"/>
                <a:ea typeface="Arial"/>
                <a:cs typeface="Arial"/>
                <a:sym typeface="Arial"/>
              </a:rPr>
              <a:t>Novelty and Uniqueness</a:t>
            </a:r>
            <a:endParaRPr b="1" i="0" sz="2400" u="none" cap="none" strike="noStrike">
              <a:solidFill>
                <a:srgbClr val="000000"/>
              </a:solidFill>
              <a:latin typeface="Arial"/>
              <a:ea typeface="Arial"/>
              <a:cs typeface="Arial"/>
              <a:sym typeface="Arial"/>
            </a:endParaRPr>
          </a:p>
        </p:txBody>
      </p:sp>
      <p:sp>
        <p:nvSpPr>
          <p:cNvPr id="161" name="Google Shape;161;p22"/>
          <p:cNvSpPr txBox="1"/>
          <p:nvPr/>
        </p:nvSpPr>
        <p:spPr>
          <a:xfrm>
            <a:off x="777240" y="1207008"/>
            <a:ext cx="11301900" cy="5565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The proposed </a:t>
            </a:r>
            <a:r>
              <a:rPr b="1" lang="en-US" sz="1200">
                <a:solidFill>
                  <a:schemeClr val="dk1"/>
                </a:solidFill>
              </a:rPr>
              <a:t>Smart Rann of Kutch Eco-Tourism Platform</a:t>
            </a:r>
            <a:r>
              <a:rPr lang="en-US" sz="1200">
                <a:solidFill>
                  <a:schemeClr val="dk1"/>
                </a:solidFill>
              </a:rPr>
              <a:t> stands out by combining </a:t>
            </a:r>
            <a:r>
              <a:rPr b="1" lang="en-US" sz="1200">
                <a:solidFill>
                  <a:schemeClr val="dk1"/>
                </a:solidFill>
              </a:rPr>
              <a:t>Agentic AI, predictive analytics, sustainability intelligence, and personalized tourism recommendations</a:t>
            </a:r>
            <a:r>
              <a:rPr lang="en-US" sz="1200">
                <a:solidFill>
                  <a:schemeClr val="dk1"/>
                </a:solidFill>
              </a:rPr>
              <a:t> into a single intelligent system.</a:t>
            </a:r>
            <a:endParaRPr sz="1200">
              <a:solidFill>
                <a:schemeClr val="dk1"/>
              </a:solidFill>
            </a:endParaRPr>
          </a:p>
          <a:p>
            <a:pPr indent="-304800" lvl="0" marL="457200" rtl="0" algn="l">
              <a:lnSpc>
                <a:spcPct val="115000"/>
              </a:lnSpc>
              <a:spcBef>
                <a:spcPts val="1200"/>
              </a:spcBef>
              <a:spcAft>
                <a:spcPts val="0"/>
              </a:spcAft>
              <a:buClr>
                <a:schemeClr val="dk1"/>
              </a:buClr>
              <a:buSzPts val="1200"/>
              <a:buChar char="●"/>
            </a:pPr>
            <a:r>
              <a:rPr b="1" lang="en-US" sz="1200">
                <a:solidFill>
                  <a:schemeClr val="dk1"/>
                </a:solidFill>
              </a:rPr>
              <a:t>Multi-Agent Intelligence</a:t>
            </a:r>
            <a:r>
              <a:rPr lang="en-US" sz="1200">
                <a:solidFill>
                  <a:schemeClr val="dk1"/>
                </a:solidFill>
              </a:rPr>
              <a:t> – Instead of relying on a single chatbot, multiple specialized AI agents collaborate to handle tourist-load forecasting, itinerary planning, ecological carrying capacity, community linkage, and tourism impact analysis.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Agentic Decision-Making</a:t>
            </a:r>
            <a:r>
              <a:rPr lang="en-US" sz="1200">
                <a:solidFill>
                  <a:schemeClr val="dk1"/>
                </a:solidFill>
              </a:rPr>
              <a:t> – The system goes beyond answering tourist questions by autonomously analyzing the situation and recommending the </a:t>
            </a:r>
            <a:r>
              <a:rPr b="1" lang="en-US" sz="1200">
                <a:solidFill>
                  <a:schemeClr val="dk1"/>
                </a:solidFill>
              </a:rPr>
              <a:t>next best sustainable action</a:t>
            </a:r>
            <a:r>
              <a:rPr lang="en-US" sz="1200">
                <a:solidFill>
                  <a:schemeClr val="dk1"/>
                </a:solidFill>
              </a:rPr>
              <a:t>, such as visiting an alternative destination or avoiding an overcrowded zone.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Predictive Tourist Load Management</a:t>
            </a:r>
            <a:r>
              <a:rPr lang="en-US" sz="1200">
                <a:solidFill>
                  <a:schemeClr val="dk1"/>
                </a:solidFill>
              </a:rPr>
              <a:t> – Uses historical and available real-time tourism data to forecast visitor pressure and identify destinations that may experience overcrowding.</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Carrying-Capacity Awareness</a:t>
            </a:r>
            <a:r>
              <a:rPr lang="en-US" sz="1200">
                <a:solidFill>
                  <a:schemeClr val="dk1"/>
                </a:solidFill>
              </a:rPr>
              <a:t> – Recommendations consider the ecological and infrastructural limits of sensitive areas, helping balance tourism growth with environmental protection.</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Personalized Sustainable Itineraries</a:t>
            </a:r>
            <a:r>
              <a:rPr lang="en-US" sz="1200">
                <a:solidFill>
                  <a:schemeClr val="dk1"/>
                </a:solidFill>
              </a:rPr>
              <a:t> – Generates travel plans based on tourist interests, available time, budget, crowd levels, destination sensitivity, and sustainability considerations.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Community-Centric Tourism</a:t>
            </a:r>
            <a:r>
              <a:rPr lang="en-US" sz="1200">
                <a:solidFill>
                  <a:schemeClr val="dk1"/>
                </a:solidFill>
              </a:rPr>
              <a:t> – Connects tourists with local artisans, handicrafts, homestays, cultural experiences, and community-based activities, helping distribute tourism revenue beyond major tourist hotspots.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Real-Time &amp; Context-Aware Recommendations</a:t>
            </a:r>
            <a:r>
              <a:rPr lang="en-US" sz="1200">
                <a:solidFill>
                  <a:schemeClr val="dk1"/>
                </a:solidFill>
              </a:rPr>
              <a:t> – Where connected, the platform can use external data such as weather, tourist statistics, destination information, and maps to make recommendations more relevant to current conditions.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Multilingual &amp; Accessible AI</a:t>
            </a:r>
            <a:r>
              <a:rPr lang="en-US" sz="1200">
                <a:solidFill>
                  <a:schemeClr val="dk1"/>
                </a:solidFill>
              </a:rPr>
              <a:t> – Supports </a:t>
            </a:r>
            <a:r>
              <a:rPr b="1" lang="en-US" sz="1200">
                <a:solidFill>
                  <a:schemeClr val="dk1"/>
                </a:solidFill>
              </a:rPr>
              <a:t>Gujarati, Hindi, and English</a:t>
            </a:r>
            <a:r>
              <a:rPr lang="en-US" sz="1200">
                <a:solidFill>
                  <a:schemeClr val="dk1"/>
                </a:solidFill>
              </a:rPr>
              <a:t>, allowing local tourists, visitors, and authorities to interact naturally through a simple smartphone-friendly interface.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Transparent AI Recommendations</a:t>
            </a:r>
            <a:r>
              <a:rPr lang="en-US" sz="1200">
                <a:solidFill>
                  <a:schemeClr val="dk1"/>
                </a:solidFill>
              </a:rPr>
              <a:t> – Clearly distinguishes between verified/live information, historical data, predictions, and AI-generated recommendations, improving trust and responsible decision-making.</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rPr>
              <a:t>IBM Enterprise AI Integration</a:t>
            </a:r>
            <a:r>
              <a:rPr lang="en-US" sz="1200">
                <a:solidFill>
                  <a:schemeClr val="dk1"/>
                </a:solidFill>
              </a:rPr>
              <a:t> – Built around </a:t>
            </a:r>
            <a:r>
              <a:rPr b="1" lang="en-US" sz="1200">
                <a:solidFill>
                  <a:schemeClr val="dk1"/>
                </a:solidFill>
              </a:rPr>
              <a:t>IBM Granite models and IBM watsonx/IBM Cloud</a:t>
            </a:r>
            <a:r>
              <a:rPr lang="en-US" sz="1200">
                <a:solidFill>
                  <a:schemeClr val="dk1"/>
                </a:solidFill>
              </a:rPr>
              <a:t>, providing a foundation for scalable, governed, and enterprise-ready Agentic AI deployment.</a:t>
            </a:r>
            <a:endParaRPr sz="1200">
              <a:solidFill>
                <a:schemeClr val="dk1"/>
              </a:solidFill>
            </a:endParaRPr>
          </a:p>
          <a:p>
            <a:pPr indent="0" lvl="0" marL="0" marR="0" rtl="0" algn="l">
              <a:lnSpc>
                <a:spcPct val="100000"/>
              </a:lnSpc>
              <a:spcBef>
                <a:spcPts val="1200"/>
              </a:spcBef>
              <a:spcAft>
                <a:spcPts val="0"/>
              </a:spcAft>
              <a:buNone/>
            </a:pPr>
            <a:r>
              <a:t/>
            </a:r>
            <a:endParaRPr sz="1800"/>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Git Hub Link</a:t>
            </a:r>
            <a:endParaRPr b="1" i="0" sz="2400" u="none" cap="none" strike="noStrike">
              <a:solidFill>
                <a:srgbClr val="000000"/>
              </a:solidFill>
              <a:latin typeface="Arial"/>
              <a:ea typeface="Arial"/>
              <a:cs typeface="Arial"/>
              <a:sym typeface="Arial"/>
            </a:endParaRPr>
          </a:p>
        </p:txBody>
      </p:sp>
      <p:sp>
        <p:nvSpPr>
          <p:cNvPr id="167" name="Google Shape;167;p23"/>
          <p:cNvSpPr/>
          <p:nvPr/>
        </p:nvSpPr>
        <p:spPr>
          <a:xfrm>
            <a:off x="1218724" y="1153712"/>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 Please create public github repository (Enable Add README  button while creating repository) with format – </a:t>
            </a:r>
            <a:endParaRPr/>
          </a:p>
          <a:p>
            <a:pPr indent="0" lvl="0" marL="0" marR="0" rtl="0" algn="l">
              <a:lnSpc>
                <a:spcPct val="162162"/>
              </a:lnSpc>
              <a:spcBef>
                <a:spcPts val="0"/>
              </a:spcBef>
              <a:spcAft>
                <a:spcPts val="0"/>
              </a:spcAft>
              <a:buNone/>
            </a:pPr>
            <a:r>
              <a:rPr b="0" i="0" lang="en-US" sz="1850" u="none" cap="none" strike="noStrike">
                <a:solidFill>
                  <a:srgbClr val="2B3541"/>
                </a:solidFill>
                <a:latin typeface="Times New Roman"/>
                <a:ea typeface="Times New Roman"/>
                <a:cs typeface="Times New Roman"/>
                <a:sym typeface="Times New Roman"/>
              </a:rPr>
              <a:t>Please test and Paste the working  Github URL </a:t>
            </a:r>
            <a:r>
              <a:rPr lang="en-US" sz="1850">
                <a:solidFill>
                  <a:srgbClr val="2B3541"/>
                </a:solidFill>
                <a:latin typeface="Times New Roman"/>
                <a:ea typeface="Times New Roman"/>
                <a:cs typeface="Times New Roman"/>
                <a:sym typeface="Times New Roman"/>
              </a:rPr>
              <a:t>https://github.com/RojasaraVishal/Smart-Rann-of-Kutch-Eco-Tourism-Carrying-Capacity-Planner.git</a:t>
            </a:r>
            <a:endParaRPr b="0" i="0" sz="1850" u="none" cap="none" strike="noStrike">
              <a:solidFill>
                <a:srgbClr val="2B3541"/>
              </a:solidFill>
              <a:latin typeface="Times New Roman"/>
              <a:ea typeface="Times New Roman"/>
              <a:cs typeface="Times New Roman"/>
              <a:sym typeface="Times New Roman"/>
            </a:endParaRPr>
          </a:p>
          <a:p>
            <a:pPr indent="0" lvl="0" marL="0" marR="0" rtl="0" algn="l">
              <a:lnSpc>
                <a:spcPct val="162162"/>
              </a:lnSpc>
              <a:spcBef>
                <a:spcPts val="0"/>
              </a:spcBef>
              <a:spcAft>
                <a:spcPts val="0"/>
              </a:spcAft>
              <a:buNone/>
            </a:pPr>
            <a:r>
              <a:rPr b="1" i="0" lang="en-US" sz="1850" u="none" cap="none" strike="noStrike">
                <a:solidFill>
                  <a:srgbClr val="2B3541"/>
                </a:solidFill>
                <a:latin typeface="Times New Roman"/>
                <a:ea typeface="Times New Roman"/>
                <a:cs typeface="Times New Roman"/>
                <a:sym typeface="Times New Roman"/>
              </a:rPr>
              <a:t>Make sure you have Uploaded following three files into your github repository  </a:t>
            </a:r>
            <a:br>
              <a:rPr b="0" i="0" lang="en-US" sz="1850" u="none" cap="none" strike="noStrike">
                <a:solidFill>
                  <a:srgbClr val="2B3541"/>
                </a:solidFill>
                <a:latin typeface="Times New Roman"/>
                <a:ea typeface="Times New Roman"/>
                <a:cs typeface="Times New Roman"/>
                <a:sym typeface="Times New Roman"/>
              </a:rPr>
            </a:br>
            <a:r>
              <a:rPr b="0" i="0" lang="en-US" sz="1850" u="none" cap="none" strike="noStrike">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endParaRPr/>
          </a:p>
          <a:p>
            <a:pPr indent="0" lvl="0" marL="0" marR="0" rtl="0" algn="l">
              <a:lnSpc>
                <a:spcPct val="162162"/>
              </a:lnSpc>
              <a:spcBef>
                <a:spcPts val="0"/>
              </a:spcBef>
              <a:spcAft>
                <a:spcPts val="0"/>
              </a:spcAft>
              <a:buClr>
                <a:srgbClr val="2B3541"/>
              </a:buClr>
              <a:buSzPts val="1850"/>
              <a:buFont typeface="Times New Roman"/>
              <a:buNone/>
            </a:pPr>
            <a:r>
              <a:t/>
            </a:r>
            <a:endParaRPr b="0" i="0" sz="1850" u="none" cap="none" strike="noStrike">
              <a:solidFill>
                <a:srgbClr val="000000"/>
              </a:solidFill>
              <a:latin typeface="Times New Roman"/>
              <a:ea typeface="Times New Roman"/>
              <a:cs typeface="Times New Roman"/>
              <a:sym typeface="Times New Roman"/>
            </a:endParaRPr>
          </a:p>
        </p:txBody>
      </p:sp>
      <p:sp>
        <p:nvSpPr>
          <p:cNvPr id="168" name="Google Shape;168;p23"/>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69" name="Google Shape;169;p23"/>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0" name="Google Shape;170;p23"/>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4"/>
          <p:cNvSpPr/>
          <p:nvPr/>
        </p:nvSpPr>
        <p:spPr>
          <a:xfrm>
            <a:off x="1218724" y="420729"/>
            <a:ext cx="6444496" cy="704017"/>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051D3A"/>
              </a:buClr>
              <a:buSzPts val="3500"/>
              <a:buFont typeface="Times New Roman"/>
              <a:buNone/>
            </a:pPr>
            <a:r>
              <a:rPr b="1" i="0" lang="en-US" sz="2400" u="none" cap="none" strike="noStrike">
                <a:solidFill>
                  <a:srgbClr val="000000"/>
                </a:solidFill>
                <a:latin typeface="Arial"/>
                <a:ea typeface="Arial"/>
                <a:cs typeface="Arial"/>
                <a:sym typeface="Arial"/>
              </a:rPr>
              <a:t>Future Scope </a:t>
            </a:r>
            <a:endParaRPr b="1" i="0" sz="2400" u="none" cap="none" strike="noStrike">
              <a:solidFill>
                <a:srgbClr val="000000"/>
              </a:solidFill>
              <a:latin typeface="Arial"/>
              <a:ea typeface="Arial"/>
              <a:cs typeface="Arial"/>
              <a:sym typeface="Arial"/>
            </a:endParaRPr>
          </a:p>
        </p:txBody>
      </p:sp>
      <p:sp>
        <p:nvSpPr>
          <p:cNvPr id="176" name="Google Shape;176;p24"/>
          <p:cNvSpPr/>
          <p:nvPr/>
        </p:nvSpPr>
        <p:spPr>
          <a:xfrm>
            <a:off x="1218724" y="1221715"/>
            <a:ext cx="9214580" cy="4277001"/>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1.Integration with Wearables &amp; Health Devices –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endParaRPr/>
          </a:p>
          <a:p>
            <a:pPr indent="0" lvl="0" marL="0" marR="0" rtl="0" algn="l">
              <a:lnSpc>
                <a:spcPct val="162162"/>
              </a:lnSpc>
              <a:spcBef>
                <a:spcPts val="0"/>
              </a:spcBef>
              <a:spcAft>
                <a:spcPts val="0"/>
              </a:spcAft>
              <a:buClr>
                <a:srgbClr val="2B3541"/>
              </a:buClr>
              <a:buSzPts val="1850"/>
              <a:buFont typeface="Times New Roman"/>
              <a:buNone/>
            </a:pPr>
            <a:r>
              <a:rPr b="1" i="0" lang="en-US" sz="1850" u="none" cap="none" strike="noStrike">
                <a:solidFill>
                  <a:srgbClr val="2B3541"/>
                </a:solidFill>
                <a:latin typeface="Times New Roman"/>
                <a:ea typeface="Times New Roman"/>
                <a:cs typeface="Times New Roman"/>
                <a:sym typeface="Times New Roman"/>
              </a:rPr>
              <a:t>2.AI-Powered Voice Assistant &amp; Multilingual Support </a:t>
            </a:r>
            <a:r>
              <a:rPr b="0" i="0" lang="en-US" sz="1850" u="none" cap="none" strike="noStrike">
                <a:solidFill>
                  <a:srgbClr val="2B3541"/>
                </a:solidFill>
                <a:latin typeface="Times New Roman"/>
                <a:ea typeface="Times New Roman"/>
                <a:cs typeface="Times New Roman"/>
                <a:sym typeface="Times New Roman"/>
              </a:rPr>
              <a:t>– </a:t>
            </a:r>
            <a:endParaRPr/>
          </a:p>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b="0" i="0" sz="1850" u="none" cap="none" strike="noStrike">
              <a:solidFill>
                <a:srgbClr val="000000"/>
              </a:solidFill>
              <a:latin typeface="Times New Roman"/>
              <a:ea typeface="Times New Roman"/>
              <a:cs typeface="Times New Roman"/>
              <a:sym typeface="Times New Roman"/>
            </a:endParaRPr>
          </a:p>
        </p:txBody>
      </p:sp>
      <p:sp>
        <p:nvSpPr>
          <p:cNvPr id="177" name="Google Shape;177;p24"/>
          <p:cNvSpPr/>
          <p:nvPr/>
        </p:nvSpPr>
        <p:spPr>
          <a:xfrm>
            <a:off x="1218724" y="3360216"/>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8" name="Google Shape;178;p24"/>
          <p:cNvSpPr/>
          <p:nvPr/>
        </p:nvSpPr>
        <p:spPr>
          <a:xfrm>
            <a:off x="1218724" y="4395464"/>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
        <p:nvSpPr>
          <p:cNvPr id="179" name="Google Shape;179;p24"/>
          <p:cNvSpPr/>
          <p:nvPr/>
        </p:nvSpPr>
        <p:spPr>
          <a:xfrm>
            <a:off x="1218724" y="5430713"/>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B3541"/>
              </a:buClr>
              <a:buSzPts val="1850"/>
              <a:buFont typeface="Times New Roman"/>
              <a:buNone/>
            </a:pPr>
            <a:r>
              <a:rPr b="0" i="0" lang="en-US" sz="1850" u="none" cap="none" strike="noStrike">
                <a:solidFill>
                  <a:srgbClr val="2B3541"/>
                </a:solidFill>
                <a:latin typeface="Times New Roman"/>
                <a:ea typeface="Times New Roman"/>
                <a:cs typeface="Times New Roman"/>
                <a:sym typeface="Times New Roman"/>
              </a:rPr>
              <a:t>·</a:t>
            </a:r>
            <a:endParaRPr b="0" i="0" sz="185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5"/>
          <p:cNvSpPr txBox="1"/>
          <p:nvPr/>
        </p:nvSpPr>
        <p:spPr>
          <a:xfrm>
            <a:off x="327949" y="207380"/>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5" name="Google Shape;185;p25"/>
          <p:cNvSpPr txBox="1"/>
          <p:nvPr/>
        </p:nvSpPr>
        <p:spPr>
          <a:xfrm>
            <a:off x="552048" y="690061"/>
            <a:ext cx="638996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Arial"/>
                <a:ea typeface="Arial"/>
                <a:cs typeface="Arial"/>
                <a:sym typeface="Arial"/>
              </a:rPr>
              <a:t>Please  add your credly certificate </a:t>
            </a:r>
            <a:endParaRPr/>
          </a:p>
        </p:txBody>
      </p:sp>
      <p:pic>
        <p:nvPicPr>
          <p:cNvPr id="186" name="Google Shape;186;p25" title="Screenshot 2026-08-12 200522.png"/>
          <p:cNvPicPr preferRelativeResize="0"/>
          <p:nvPr/>
        </p:nvPicPr>
        <p:blipFill rotWithShape="1">
          <a:blip r:embed="rId3">
            <a:alphaModFix/>
          </a:blip>
          <a:srcRect b="7118" l="0" r="0" t="7118"/>
          <a:stretch/>
        </p:blipFill>
        <p:spPr>
          <a:xfrm>
            <a:off x="1409366" y="1483380"/>
            <a:ext cx="7696868" cy="506035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6"/>
          <p:cNvSpPr txBox="1"/>
          <p:nvPr/>
        </p:nvSpPr>
        <p:spPr>
          <a:xfrm>
            <a:off x="176696" y="226391"/>
            <a:ext cx="6096000"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Arial"/>
                <a:ea typeface="Arial"/>
                <a:cs typeface="Arial"/>
                <a:sym typeface="Arial"/>
              </a:rPr>
              <a:t>Certificates Earned:</a:t>
            </a:r>
            <a:r>
              <a:rPr b="0" i="0" lang="en-US" sz="2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2" name="Google Shape;192;p26"/>
          <p:cNvSpPr txBox="1"/>
          <p:nvPr/>
        </p:nvSpPr>
        <p:spPr>
          <a:xfrm>
            <a:off x="496843" y="800470"/>
            <a:ext cx="543768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Arial"/>
                <a:ea typeface="Arial"/>
                <a:cs typeface="Arial"/>
                <a:sym typeface="Arial"/>
              </a:rPr>
              <a:t>Add your IBM BOB Certificate</a:t>
            </a:r>
            <a:endParaRPr/>
          </a:p>
        </p:txBody>
      </p:sp>
      <p:pic>
        <p:nvPicPr>
          <p:cNvPr id="193" name="Google Shape;193;p26" title="Screenshot 2026-08-12 200539.png"/>
          <p:cNvPicPr preferRelativeResize="0"/>
          <p:nvPr/>
        </p:nvPicPr>
        <p:blipFill rotWithShape="1">
          <a:blip r:embed="rId3">
            <a:alphaModFix/>
          </a:blip>
          <a:srcRect b="6657" l="0" r="0" t="6666"/>
          <a:stretch/>
        </p:blipFill>
        <p:spPr>
          <a:xfrm>
            <a:off x="1058750" y="1479025"/>
            <a:ext cx="10074501" cy="5828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27"/>
          <p:cNvPicPr preferRelativeResize="0"/>
          <p:nvPr/>
        </p:nvPicPr>
        <p:blipFill rotWithShape="1">
          <a:blip r:embed="rId3">
            <a:alphaModFix/>
          </a:blip>
          <a:srcRect b="0" l="0" r="0" t="0"/>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